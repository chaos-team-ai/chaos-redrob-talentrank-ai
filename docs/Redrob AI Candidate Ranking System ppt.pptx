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et" charset="1" panose="00000000000000000000"/>
      <p:regular r:id="rId13"/>
    </p:embeddedFont>
    <p:embeddedFont>
      <p:font typeface="Garet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333406"/>
            <a:ext cx="11218892" cy="900112"/>
            <a:chOff x="0" y="0"/>
            <a:chExt cx="2954770" cy="237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4770" cy="237067"/>
            </a:xfrm>
            <a:custGeom>
              <a:avLst/>
              <a:gdLst/>
              <a:ahLst/>
              <a:cxnLst/>
              <a:rect r="r" b="b" t="t" l="l"/>
              <a:pathLst>
                <a:path h="237067" w="2954770">
                  <a:moveTo>
                    <a:pt x="69008" y="0"/>
                  </a:moveTo>
                  <a:lnTo>
                    <a:pt x="2885762" y="0"/>
                  </a:lnTo>
                  <a:cubicBezTo>
                    <a:pt x="2923874" y="0"/>
                    <a:pt x="2954770" y="30896"/>
                    <a:pt x="2954770" y="69008"/>
                  </a:cubicBezTo>
                  <a:lnTo>
                    <a:pt x="2954770" y="168059"/>
                  </a:lnTo>
                  <a:cubicBezTo>
                    <a:pt x="2954770" y="206171"/>
                    <a:pt x="2923874" y="237067"/>
                    <a:pt x="2885762" y="237067"/>
                  </a:cubicBezTo>
                  <a:lnTo>
                    <a:pt x="69008" y="237067"/>
                  </a:lnTo>
                  <a:cubicBezTo>
                    <a:pt x="30896" y="237067"/>
                    <a:pt x="0" y="206171"/>
                    <a:pt x="0" y="168059"/>
                  </a:cubicBezTo>
                  <a:lnTo>
                    <a:pt x="0" y="69008"/>
                  </a:lnTo>
                  <a:cubicBezTo>
                    <a:pt x="0" y="30896"/>
                    <a:pt x="30896" y="0"/>
                    <a:pt x="69008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54770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1867427" y="8358188"/>
            <a:ext cx="2548860" cy="900112"/>
            <a:chOff x="0" y="0"/>
            <a:chExt cx="671305" cy="237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1305" cy="237067"/>
            </a:xfrm>
            <a:custGeom>
              <a:avLst/>
              <a:gdLst/>
              <a:ahLst/>
              <a:cxnLst/>
              <a:rect r="r" b="b" t="t" l="l"/>
              <a:pathLst>
                <a:path h="237067" w="671305">
                  <a:moveTo>
                    <a:pt x="0" y="0"/>
                  </a:moveTo>
                  <a:lnTo>
                    <a:pt x="671305" y="0"/>
                  </a:lnTo>
                  <a:lnTo>
                    <a:pt x="671305" y="237067"/>
                  </a:lnTo>
                  <a:lnTo>
                    <a:pt x="0" y="2370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1305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5875" y="8551069"/>
            <a:ext cx="3275052" cy="514350"/>
            <a:chOff x="0" y="0"/>
            <a:chExt cx="862565" cy="135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2565" cy="135467"/>
            </a:xfrm>
            <a:custGeom>
              <a:avLst/>
              <a:gdLst/>
              <a:ahLst/>
              <a:cxnLst/>
              <a:rect r="r" b="b" t="t" l="l"/>
              <a:pathLst>
                <a:path h="135467" w="862565">
                  <a:moveTo>
                    <a:pt x="67733" y="0"/>
                  </a:moveTo>
                  <a:lnTo>
                    <a:pt x="794832" y="0"/>
                  </a:lnTo>
                  <a:cubicBezTo>
                    <a:pt x="812796" y="0"/>
                    <a:pt x="830024" y="7136"/>
                    <a:pt x="842727" y="19839"/>
                  </a:cubicBezTo>
                  <a:cubicBezTo>
                    <a:pt x="855429" y="32541"/>
                    <a:pt x="862565" y="49769"/>
                    <a:pt x="862565" y="67733"/>
                  </a:cubicBezTo>
                  <a:lnTo>
                    <a:pt x="862565" y="67733"/>
                  </a:lnTo>
                  <a:cubicBezTo>
                    <a:pt x="862565" y="85697"/>
                    <a:pt x="855429" y="102926"/>
                    <a:pt x="842727" y="115628"/>
                  </a:cubicBezTo>
                  <a:cubicBezTo>
                    <a:pt x="830024" y="128331"/>
                    <a:pt x="812796" y="135467"/>
                    <a:pt x="794832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2565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95432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0"/>
                </a:moveTo>
                <a:lnTo>
                  <a:pt x="0" y="0"/>
                </a:lnTo>
                <a:lnTo>
                  <a:pt x="0" y="236776"/>
                </a:lnTo>
                <a:lnTo>
                  <a:pt x="304980" y="236776"/>
                </a:lnTo>
                <a:lnTo>
                  <a:pt x="3049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-566752"/>
            <a:ext cx="18313034" cy="12314307"/>
          </a:xfrm>
          <a:custGeom>
            <a:avLst/>
            <a:gdLst/>
            <a:ahLst/>
            <a:cxnLst/>
            <a:rect r="r" b="b" t="t" l="l"/>
            <a:pathLst>
              <a:path h="12314307" w="18313034">
                <a:moveTo>
                  <a:pt x="0" y="0"/>
                </a:moveTo>
                <a:lnTo>
                  <a:pt x="18313034" y="0"/>
                </a:lnTo>
                <a:lnTo>
                  <a:pt x="18313034" y="12314307"/>
                </a:lnTo>
                <a:lnTo>
                  <a:pt x="0" y="12314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4" t="0" r="-46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6005" y="3148470"/>
            <a:ext cx="8812063" cy="464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41"/>
              </a:lnSpc>
            </a:pPr>
            <a:r>
              <a:rPr lang="en-US" sz="12041" spc="-842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Candidate Ranking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36005" y="2272169"/>
            <a:ext cx="7923295" cy="43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5"/>
              </a:lnSpc>
              <a:spcBef>
                <a:spcPct val="0"/>
              </a:spcBef>
            </a:pPr>
            <a:r>
              <a:rPr lang="en-US" sz="2511" spc="-87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AI-powered candidate ranking for large-scale hiring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797" y="9498445"/>
            <a:ext cx="5573209" cy="31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8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Krishna Choudhary · Ritik Ahire · Anup Verma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5353" y="305176"/>
            <a:ext cx="4164845" cy="48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4"/>
              </a:lnSpc>
              <a:spcBef>
                <a:spcPct val="0"/>
              </a:spcBef>
            </a:pPr>
            <a:r>
              <a:rPr lang="en-US" sz="2824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Team CHAOS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9057120"/>
            <a:ext cx="4322499" cy="31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3"/>
              </a:lnSpc>
              <a:spcBef>
                <a:spcPct val="0"/>
              </a:spcBef>
            </a:pPr>
            <a:r>
              <a:rPr lang="en-US" sz="1859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Team Lead: Krishna Choudhary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086600" y="2387203"/>
            <a:ext cx="4450321" cy="1028700"/>
            <a:chOff x="0" y="0"/>
            <a:chExt cx="1172101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101" cy="270933"/>
            </a:xfrm>
            <a:custGeom>
              <a:avLst/>
              <a:gdLst/>
              <a:ahLst/>
              <a:cxnLst/>
              <a:rect r="r" b="b" t="t" l="l"/>
              <a:pathLst>
                <a:path h="270933" w="1172101">
                  <a:moveTo>
                    <a:pt x="0" y="0"/>
                  </a:moveTo>
                  <a:lnTo>
                    <a:pt x="1172101" y="0"/>
                  </a:lnTo>
                  <a:lnTo>
                    <a:pt x="1172101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2101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71750" y="2901553"/>
            <a:ext cx="6057900" cy="6356747"/>
            <a:chOff x="0" y="0"/>
            <a:chExt cx="1595496" cy="16742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5496" cy="1674205"/>
            </a:xfrm>
            <a:custGeom>
              <a:avLst/>
              <a:gdLst/>
              <a:ahLst/>
              <a:cxnLst/>
              <a:rect r="r" b="b" t="t" l="l"/>
              <a:pathLst>
                <a:path h="1674205" w="1595496">
                  <a:moveTo>
                    <a:pt x="31950" y="0"/>
                  </a:moveTo>
                  <a:lnTo>
                    <a:pt x="1563547" y="0"/>
                  </a:lnTo>
                  <a:cubicBezTo>
                    <a:pt x="1581192" y="0"/>
                    <a:pt x="1595496" y="14304"/>
                    <a:pt x="1595496" y="31950"/>
                  </a:cubicBezTo>
                  <a:lnTo>
                    <a:pt x="1595496" y="1642255"/>
                  </a:lnTo>
                  <a:cubicBezTo>
                    <a:pt x="1595496" y="1650729"/>
                    <a:pt x="1592130" y="1658855"/>
                    <a:pt x="1586138" y="1664847"/>
                  </a:cubicBezTo>
                  <a:cubicBezTo>
                    <a:pt x="1580147" y="1670839"/>
                    <a:pt x="1572020" y="1674205"/>
                    <a:pt x="1563547" y="1674205"/>
                  </a:cubicBezTo>
                  <a:lnTo>
                    <a:pt x="31950" y="1674205"/>
                  </a:lnTo>
                  <a:cubicBezTo>
                    <a:pt x="14304" y="1674205"/>
                    <a:pt x="0" y="1659901"/>
                    <a:pt x="0" y="1642255"/>
                  </a:cubicBezTo>
                  <a:lnTo>
                    <a:pt x="0" y="31950"/>
                  </a:lnTo>
                  <a:cubicBezTo>
                    <a:pt x="0" y="23476"/>
                    <a:pt x="3366" y="15350"/>
                    <a:pt x="9358" y="9358"/>
                  </a:cubicBezTo>
                  <a:cubicBezTo>
                    <a:pt x="15350" y="3366"/>
                    <a:pt x="23476" y="0"/>
                    <a:pt x="31950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5496" cy="1712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6057900" cy="3745706"/>
            <a:chOff x="0" y="0"/>
            <a:chExt cx="938527" cy="580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8527" cy="580308"/>
            </a:xfrm>
            <a:custGeom>
              <a:avLst/>
              <a:gdLst/>
              <a:ahLst/>
              <a:cxnLst/>
              <a:rect r="r" b="b" t="t" l="l"/>
              <a:pathLst>
                <a:path h="580308" w="938527">
                  <a:moveTo>
                    <a:pt x="19170" y="0"/>
                  </a:moveTo>
                  <a:lnTo>
                    <a:pt x="919357" y="0"/>
                  </a:lnTo>
                  <a:cubicBezTo>
                    <a:pt x="929945" y="0"/>
                    <a:pt x="938527" y="8583"/>
                    <a:pt x="938527" y="19170"/>
                  </a:cubicBezTo>
                  <a:lnTo>
                    <a:pt x="938527" y="561138"/>
                  </a:lnTo>
                  <a:cubicBezTo>
                    <a:pt x="938527" y="566222"/>
                    <a:pt x="936508" y="571098"/>
                    <a:pt x="932913" y="574693"/>
                  </a:cubicBezTo>
                  <a:cubicBezTo>
                    <a:pt x="929318" y="578288"/>
                    <a:pt x="924442" y="580308"/>
                    <a:pt x="919357" y="580308"/>
                  </a:cubicBezTo>
                  <a:lnTo>
                    <a:pt x="19170" y="580308"/>
                  </a:lnTo>
                  <a:cubicBezTo>
                    <a:pt x="14086" y="580308"/>
                    <a:pt x="9210" y="578288"/>
                    <a:pt x="5615" y="574693"/>
                  </a:cubicBezTo>
                  <a:cubicBezTo>
                    <a:pt x="2020" y="571098"/>
                    <a:pt x="0" y="566222"/>
                    <a:pt x="0" y="561138"/>
                  </a:cubicBezTo>
                  <a:lnTo>
                    <a:pt x="0" y="19170"/>
                  </a:lnTo>
                  <a:cubicBezTo>
                    <a:pt x="0" y="14086"/>
                    <a:pt x="2020" y="9210"/>
                    <a:pt x="5615" y="5615"/>
                  </a:cubicBezTo>
                  <a:cubicBezTo>
                    <a:pt x="9210" y="2020"/>
                    <a:pt x="14086" y="0"/>
                    <a:pt x="1917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82" r="0" b="-448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97742" y="6121031"/>
            <a:ext cx="1028700" cy="514350"/>
            <a:chOff x="0" y="0"/>
            <a:chExt cx="270933" cy="135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135467"/>
            </a:xfrm>
            <a:custGeom>
              <a:avLst/>
              <a:gdLst/>
              <a:ahLst/>
              <a:cxnLst/>
              <a:rect r="r" b="b" t="t" l="l"/>
              <a:pathLst>
                <a:path h="13546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12092" y="6121031"/>
            <a:ext cx="2291565" cy="514350"/>
            <a:chOff x="0" y="0"/>
            <a:chExt cx="603540" cy="135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40" cy="135467"/>
            </a:xfrm>
            <a:custGeom>
              <a:avLst/>
              <a:gdLst/>
              <a:ahLst/>
              <a:cxnLst/>
              <a:rect r="r" b="b" t="t" l="l"/>
              <a:pathLst>
                <a:path h="135467" w="603540">
                  <a:moveTo>
                    <a:pt x="67733" y="0"/>
                  </a:moveTo>
                  <a:lnTo>
                    <a:pt x="535806" y="0"/>
                  </a:lnTo>
                  <a:cubicBezTo>
                    <a:pt x="573215" y="0"/>
                    <a:pt x="603540" y="30325"/>
                    <a:pt x="603540" y="67733"/>
                  </a:cubicBezTo>
                  <a:lnTo>
                    <a:pt x="603540" y="67733"/>
                  </a:lnTo>
                  <a:cubicBezTo>
                    <a:pt x="603540" y="85697"/>
                    <a:pt x="596404" y="102926"/>
                    <a:pt x="583701" y="115628"/>
                  </a:cubicBezTo>
                  <a:cubicBezTo>
                    <a:pt x="570999" y="128331"/>
                    <a:pt x="553770" y="135467"/>
                    <a:pt x="535806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3540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341730"/>
            <a:ext cx="1543050" cy="1028700"/>
            <a:chOff x="0" y="0"/>
            <a:chExt cx="406400" cy="2709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270933"/>
            </a:xfrm>
            <a:custGeom>
              <a:avLst/>
              <a:gdLst/>
              <a:ahLst/>
              <a:cxnLst/>
              <a:rect r="r" b="b" t="t" l="l"/>
              <a:pathLst>
                <a:path h="270933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640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172700" y="3373789"/>
            <a:ext cx="7902161" cy="126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68"/>
              </a:lnSpc>
            </a:pPr>
            <a:r>
              <a:rPr lang="en-US" sz="9568" spc="-669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The Challenge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2700" y="5084448"/>
            <a:ext cx="5986391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7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Recruiter Overload at Scale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8621" y="6558029"/>
            <a:ext cx="8346240" cy="43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74"/>
              </a:lnSpc>
              <a:spcBef>
                <a:spcPct val="0"/>
              </a:spcBef>
            </a:pPr>
            <a:r>
              <a:rPr lang="en-US" sz="1267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Hiring teams face an impossible task: evaluating thousands of profiles manually, missing top talent while wasting critical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13374" y="6235341"/>
            <a:ext cx="308900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Key Problems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97742" y="7121156"/>
            <a:ext cx="3965824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100,000 candidate profiles to evaluate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Manual filtering slow and inefficient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Keyword matching misses good candidates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Fake/suspicious profiles present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Need accurate, explainable ranking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8621" y="8467781"/>
            <a:ext cx="146466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STATS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36921" y="8467781"/>
            <a:ext cx="572237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MANUAL SCREENING CAN TAKE 23 HOURS PER HIRE ON AVERAGE</a:t>
            </a:r>
          </a:p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OVER 75% OF QUALIFIED CANDIDATES ARE REJECTED BY KEYWORD FILTERS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2870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0" y="0"/>
                </a:moveTo>
                <a:lnTo>
                  <a:pt x="304980" y="0"/>
                </a:lnTo>
                <a:lnTo>
                  <a:pt x="304980" y="236776"/>
                </a:lnTo>
                <a:lnTo>
                  <a:pt x="0" y="236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37569" y="985007"/>
            <a:ext cx="7529441" cy="293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14"/>
              </a:lnSpc>
            </a:pPr>
            <a:r>
              <a:rPr lang="en-US" sz="11314" spc="-792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Our Approach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454020" y="4802411"/>
            <a:ext cx="2178060" cy="1028700"/>
            <a:chOff x="0" y="0"/>
            <a:chExt cx="573645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645" cy="270933"/>
            </a:xfrm>
            <a:custGeom>
              <a:avLst/>
              <a:gdLst/>
              <a:ahLst/>
              <a:cxnLst/>
              <a:rect r="r" b="b" t="t" l="l"/>
              <a:pathLst>
                <a:path h="270933" w="573645">
                  <a:moveTo>
                    <a:pt x="0" y="0"/>
                  </a:moveTo>
                  <a:lnTo>
                    <a:pt x="573645" y="0"/>
                  </a:lnTo>
                  <a:lnTo>
                    <a:pt x="573645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73645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227981"/>
            <a:ext cx="9338310" cy="3030319"/>
            <a:chOff x="0" y="0"/>
            <a:chExt cx="2459473" cy="7981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9473" cy="798109"/>
            </a:xfrm>
            <a:custGeom>
              <a:avLst/>
              <a:gdLst/>
              <a:ahLst/>
              <a:cxnLst/>
              <a:rect r="r" b="b" t="t" l="l"/>
              <a:pathLst>
                <a:path h="798109" w="2459473">
                  <a:moveTo>
                    <a:pt x="20726" y="0"/>
                  </a:moveTo>
                  <a:lnTo>
                    <a:pt x="2438746" y="0"/>
                  </a:lnTo>
                  <a:cubicBezTo>
                    <a:pt x="2444243" y="0"/>
                    <a:pt x="2449515" y="2184"/>
                    <a:pt x="2453402" y="6071"/>
                  </a:cubicBezTo>
                  <a:cubicBezTo>
                    <a:pt x="2457289" y="9957"/>
                    <a:pt x="2459473" y="15229"/>
                    <a:pt x="2459473" y="20726"/>
                  </a:cubicBezTo>
                  <a:lnTo>
                    <a:pt x="2459473" y="777382"/>
                  </a:lnTo>
                  <a:cubicBezTo>
                    <a:pt x="2459473" y="782879"/>
                    <a:pt x="2457289" y="788151"/>
                    <a:pt x="2453402" y="792038"/>
                  </a:cubicBezTo>
                  <a:cubicBezTo>
                    <a:pt x="2449515" y="795925"/>
                    <a:pt x="2444243" y="798109"/>
                    <a:pt x="2438746" y="798109"/>
                  </a:cubicBezTo>
                  <a:lnTo>
                    <a:pt x="20726" y="798109"/>
                  </a:lnTo>
                  <a:cubicBezTo>
                    <a:pt x="15229" y="798109"/>
                    <a:pt x="9957" y="795925"/>
                    <a:pt x="6071" y="792038"/>
                  </a:cubicBezTo>
                  <a:cubicBezTo>
                    <a:pt x="2184" y="788151"/>
                    <a:pt x="0" y="782879"/>
                    <a:pt x="0" y="777382"/>
                  </a:cubicBezTo>
                  <a:lnTo>
                    <a:pt x="0" y="20726"/>
                  </a:lnTo>
                  <a:cubicBezTo>
                    <a:pt x="0" y="15229"/>
                    <a:pt x="2184" y="9957"/>
                    <a:pt x="6071" y="6071"/>
                  </a:cubicBezTo>
                  <a:cubicBezTo>
                    <a:pt x="9957" y="2184"/>
                    <a:pt x="15229" y="0"/>
                    <a:pt x="20726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59473" cy="836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8310" y="3090246"/>
            <a:ext cx="7920990" cy="4110654"/>
            <a:chOff x="0" y="0"/>
            <a:chExt cx="1227169" cy="636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7169" cy="636848"/>
            </a:xfrm>
            <a:custGeom>
              <a:avLst/>
              <a:gdLst/>
              <a:ahLst/>
              <a:cxnLst/>
              <a:rect r="r" b="b" t="t" l="l"/>
              <a:pathLst>
                <a:path h="636848" w="1227169">
                  <a:moveTo>
                    <a:pt x="14661" y="0"/>
                  </a:moveTo>
                  <a:lnTo>
                    <a:pt x="1212508" y="0"/>
                  </a:lnTo>
                  <a:cubicBezTo>
                    <a:pt x="1216396" y="0"/>
                    <a:pt x="1220125" y="1545"/>
                    <a:pt x="1222874" y="4294"/>
                  </a:cubicBezTo>
                  <a:cubicBezTo>
                    <a:pt x="1225624" y="7044"/>
                    <a:pt x="1227169" y="10773"/>
                    <a:pt x="1227169" y="14661"/>
                  </a:cubicBezTo>
                  <a:lnTo>
                    <a:pt x="1227169" y="622187"/>
                  </a:lnTo>
                  <a:cubicBezTo>
                    <a:pt x="1227169" y="626075"/>
                    <a:pt x="1225624" y="629804"/>
                    <a:pt x="1222874" y="632554"/>
                  </a:cubicBezTo>
                  <a:cubicBezTo>
                    <a:pt x="1220125" y="635303"/>
                    <a:pt x="1216396" y="636848"/>
                    <a:pt x="1212508" y="636848"/>
                  </a:cubicBezTo>
                  <a:lnTo>
                    <a:pt x="14661" y="636848"/>
                  </a:lnTo>
                  <a:cubicBezTo>
                    <a:pt x="10773" y="636848"/>
                    <a:pt x="7044" y="635303"/>
                    <a:pt x="4294" y="632554"/>
                  </a:cubicBezTo>
                  <a:cubicBezTo>
                    <a:pt x="1545" y="629804"/>
                    <a:pt x="0" y="626075"/>
                    <a:pt x="0" y="622187"/>
                  </a:cubicBezTo>
                  <a:lnTo>
                    <a:pt x="0" y="14661"/>
                  </a:lnTo>
                  <a:cubicBezTo>
                    <a:pt x="0" y="10773"/>
                    <a:pt x="1545" y="7044"/>
                    <a:pt x="4294" y="4294"/>
                  </a:cubicBezTo>
                  <a:cubicBezTo>
                    <a:pt x="7044" y="1545"/>
                    <a:pt x="10773" y="0"/>
                    <a:pt x="146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917" r="0" b="-491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13093" y="8496356"/>
            <a:ext cx="1028700" cy="514350"/>
            <a:chOff x="0" y="0"/>
            <a:chExt cx="270933" cy="135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33" cy="135467"/>
            </a:xfrm>
            <a:custGeom>
              <a:avLst/>
              <a:gdLst/>
              <a:ahLst/>
              <a:cxnLst/>
              <a:rect r="r" b="b" t="t" l="l"/>
              <a:pathLst>
                <a:path h="13546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09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27443" y="8496356"/>
            <a:ext cx="2198370" cy="514350"/>
            <a:chOff x="0" y="0"/>
            <a:chExt cx="578995" cy="135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8995" cy="135467"/>
            </a:xfrm>
            <a:custGeom>
              <a:avLst/>
              <a:gdLst/>
              <a:ahLst/>
              <a:cxnLst/>
              <a:rect r="r" b="b" t="t" l="l"/>
              <a:pathLst>
                <a:path h="135467" w="578995">
                  <a:moveTo>
                    <a:pt x="67733" y="0"/>
                  </a:moveTo>
                  <a:lnTo>
                    <a:pt x="511261" y="0"/>
                  </a:lnTo>
                  <a:cubicBezTo>
                    <a:pt x="548669" y="0"/>
                    <a:pt x="578995" y="30325"/>
                    <a:pt x="578995" y="67733"/>
                  </a:cubicBezTo>
                  <a:lnTo>
                    <a:pt x="578995" y="67733"/>
                  </a:lnTo>
                  <a:cubicBezTo>
                    <a:pt x="578995" y="85697"/>
                    <a:pt x="571858" y="102926"/>
                    <a:pt x="559156" y="115628"/>
                  </a:cubicBezTo>
                  <a:cubicBezTo>
                    <a:pt x="546453" y="128331"/>
                    <a:pt x="529225" y="135467"/>
                    <a:pt x="511261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8995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671959" y="4180106"/>
            <a:ext cx="4628572" cy="101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7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AI-Powered Multi-Signal Ranking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5359" y="7333594"/>
            <a:ext cx="546354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Combining rule-based intelligence with semantic understanding to evaluate candidates across multiple signals for accurate, explainable ranking at scale.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27443" y="8610666"/>
            <a:ext cx="219837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Pipeline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15675" y="8467781"/>
            <a:ext cx="3586692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Candidate Dataset → Feature Extraction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Skill Matching → Behavior Analysis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Semantic Similarity → Honeypot Detection → Final Ranking</a:t>
            </a:r>
          </a:p>
        </p:txBody>
      </p:sp>
      <p:sp>
        <p:nvSpPr>
          <p:cNvPr name="Freeform 21" id="21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01400" y="1028700"/>
            <a:ext cx="6057900" cy="3787866"/>
            <a:chOff x="0" y="0"/>
            <a:chExt cx="938527" cy="5868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8527" cy="586839"/>
            </a:xfrm>
            <a:custGeom>
              <a:avLst/>
              <a:gdLst/>
              <a:ahLst/>
              <a:cxnLst/>
              <a:rect r="r" b="b" t="t" l="l"/>
              <a:pathLst>
                <a:path h="586839" w="938527">
                  <a:moveTo>
                    <a:pt x="19170" y="0"/>
                  </a:moveTo>
                  <a:lnTo>
                    <a:pt x="919357" y="0"/>
                  </a:lnTo>
                  <a:cubicBezTo>
                    <a:pt x="929945" y="0"/>
                    <a:pt x="938527" y="8583"/>
                    <a:pt x="938527" y="19170"/>
                  </a:cubicBezTo>
                  <a:lnTo>
                    <a:pt x="938527" y="567670"/>
                  </a:lnTo>
                  <a:cubicBezTo>
                    <a:pt x="938527" y="572754"/>
                    <a:pt x="936508" y="577630"/>
                    <a:pt x="932913" y="581225"/>
                  </a:cubicBezTo>
                  <a:cubicBezTo>
                    <a:pt x="929318" y="584820"/>
                    <a:pt x="924442" y="586839"/>
                    <a:pt x="919357" y="586839"/>
                  </a:cubicBezTo>
                  <a:lnTo>
                    <a:pt x="19170" y="586839"/>
                  </a:lnTo>
                  <a:cubicBezTo>
                    <a:pt x="14086" y="586839"/>
                    <a:pt x="9210" y="584820"/>
                    <a:pt x="5615" y="581225"/>
                  </a:cubicBezTo>
                  <a:cubicBezTo>
                    <a:pt x="2020" y="577630"/>
                    <a:pt x="0" y="572754"/>
                    <a:pt x="0" y="567670"/>
                  </a:cubicBezTo>
                  <a:lnTo>
                    <a:pt x="0" y="19170"/>
                  </a:lnTo>
                  <a:cubicBezTo>
                    <a:pt x="0" y="14086"/>
                    <a:pt x="2020" y="9210"/>
                    <a:pt x="5615" y="5615"/>
                  </a:cubicBezTo>
                  <a:cubicBezTo>
                    <a:pt x="9210" y="2020"/>
                    <a:pt x="14086" y="0"/>
                    <a:pt x="1917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876" r="0" b="-387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01400" y="7200923"/>
            <a:ext cx="1028700" cy="514350"/>
            <a:chOff x="0" y="0"/>
            <a:chExt cx="270933" cy="135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" cy="135467"/>
            </a:xfrm>
            <a:custGeom>
              <a:avLst/>
              <a:gdLst/>
              <a:ahLst/>
              <a:cxnLst/>
              <a:rect r="r" b="b" t="t" l="l"/>
              <a:pathLst>
                <a:path h="13546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15750" y="7200923"/>
            <a:ext cx="2571750" cy="514350"/>
            <a:chOff x="0" y="0"/>
            <a:chExt cx="677333" cy="135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7333" cy="135467"/>
            </a:xfrm>
            <a:custGeom>
              <a:avLst/>
              <a:gdLst/>
              <a:ahLst/>
              <a:cxnLst/>
              <a:rect r="r" b="b" t="t" l="l"/>
              <a:pathLst>
                <a:path h="135467" w="677333">
                  <a:moveTo>
                    <a:pt x="67733" y="0"/>
                  </a:moveTo>
                  <a:lnTo>
                    <a:pt x="609600" y="0"/>
                  </a:lnTo>
                  <a:cubicBezTo>
                    <a:pt x="627564" y="0"/>
                    <a:pt x="644792" y="7136"/>
                    <a:pt x="657495" y="19839"/>
                  </a:cubicBezTo>
                  <a:cubicBezTo>
                    <a:pt x="670197" y="32541"/>
                    <a:pt x="677333" y="49769"/>
                    <a:pt x="677333" y="67733"/>
                  </a:cubicBezTo>
                  <a:lnTo>
                    <a:pt x="677333" y="67733"/>
                  </a:lnTo>
                  <a:cubicBezTo>
                    <a:pt x="677333" y="105141"/>
                    <a:pt x="647008" y="135467"/>
                    <a:pt x="609600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73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639770" y="4467308"/>
            <a:ext cx="1806560" cy="1028700"/>
            <a:chOff x="0" y="0"/>
            <a:chExt cx="475802" cy="270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802" cy="270933"/>
            </a:xfrm>
            <a:custGeom>
              <a:avLst/>
              <a:gdLst/>
              <a:ahLst/>
              <a:cxnLst/>
              <a:rect r="r" b="b" t="t" l="l"/>
              <a:pathLst>
                <a:path h="270933" w="475802">
                  <a:moveTo>
                    <a:pt x="0" y="0"/>
                  </a:moveTo>
                  <a:lnTo>
                    <a:pt x="475802" y="0"/>
                  </a:lnTo>
                  <a:lnTo>
                    <a:pt x="475802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75802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761113"/>
            <a:ext cx="3671959" cy="3476627"/>
            <a:chOff x="0" y="0"/>
            <a:chExt cx="568883" cy="5386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883" cy="538621"/>
            </a:xfrm>
            <a:custGeom>
              <a:avLst/>
              <a:gdLst/>
              <a:ahLst/>
              <a:cxnLst/>
              <a:rect r="r" b="b" t="t" l="l"/>
              <a:pathLst>
                <a:path h="538621" w="568883">
                  <a:moveTo>
                    <a:pt x="31626" y="0"/>
                  </a:moveTo>
                  <a:lnTo>
                    <a:pt x="537257" y="0"/>
                  </a:lnTo>
                  <a:cubicBezTo>
                    <a:pt x="554723" y="0"/>
                    <a:pt x="568883" y="14159"/>
                    <a:pt x="568883" y="31626"/>
                  </a:cubicBezTo>
                  <a:lnTo>
                    <a:pt x="568883" y="506995"/>
                  </a:lnTo>
                  <a:cubicBezTo>
                    <a:pt x="568883" y="524461"/>
                    <a:pt x="554723" y="538621"/>
                    <a:pt x="537257" y="538621"/>
                  </a:cubicBezTo>
                  <a:lnTo>
                    <a:pt x="31626" y="538621"/>
                  </a:lnTo>
                  <a:cubicBezTo>
                    <a:pt x="14159" y="538621"/>
                    <a:pt x="0" y="524461"/>
                    <a:pt x="0" y="506995"/>
                  </a:cubicBezTo>
                  <a:lnTo>
                    <a:pt x="0" y="31626"/>
                  </a:lnTo>
                  <a:cubicBezTo>
                    <a:pt x="0" y="14159"/>
                    <a:pt x="14159" y="0"/>
                    <a:pt x="3162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09" r="0" b="-280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243709" y="5761113"/>
            <a:ext cx="3414641" cy="2468510"/>
            <a:chOff x="0" y="0"/>
            <a:chExt cx="899329" cy="6501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9329" cy="650143"/>
            </a:xfrm>
            <a:custGeom>
              <a:avLst/>
              <a:gdLst/>
              <a:ahLst/>
              <a:cxnLst/>
              <a:rect r="r" b="b" t="t" l="l"/>
              <a:pathLst>
                <a:path h="650143" w="899329">
                  <a:moveTo>
                    <a:pt x="56682" y="0"/>
                  </a:moveTo>
                  <a:lnTo>
                    <a:pt x="842647" y="0"/>
                  </a:lnTo>
                  <a:cubicBezTo>
                    <a:pt x="873952" y="0"/>
                    <a:pt x="899329" y="25377"/>
                    <a:pt x="899329" y="56682"/>
                  </a:cubicBezTo>
                  <a:lnTo>
                    <a:pt x="899329" y="593461"/>
                  </a:lnTo>
                  <a:cubicBezTo>
                    <a:pt x="899329" y="624765"/>
                    <a:pt x="873952" y="650143"/>
                    <a:pt x="842647" y="650143"/>
                  </a:cubicBezTo>
                  <a:lnTo>
                    <a:pt x="56682" y="650143"/>
                  </a:lnTo>
                  <a:cubicBezTo>
                    <a:pt x="25377" y="650143"/>
                    <a:pt x="0" y="624765"/>
                    <a:pt x="0" y="593461"/>
                  </a:cubicBezTo>
                  <a:lnTo>
                    <a:pt x="0" y="56682"/>
                  </a:lnTo>
                  <a:cubicBezTo>
                    <a:pt x="0" y="25377"/>
                    <a:pt x="25377" y="0"/>
                    <a:pt x="56682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99329" cy="68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671959" y="912495"/>
            <a:ext cx="7342751" cy="26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86"/>
              </a:lnSpc>
            </a:pPr>
            <a:r>
              <a:rPr lang="en-US" sz="10186" spc="-713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Signals Used for Ranking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71959" y="4321265"/>
            <a:ext cx="5986391" cy="9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pc="-9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10 Key Features Powering AI Candidate Scoring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01400" y="5723013"/>
            <a:ext cx="6057900" cy="46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  <a:spcBef>
                <a:spcPct val="0"/>
              </a:spcBef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Each signal contributes a weighted score to the final candidate ranking, combining rule-based logic with semantic AI understanding.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26190" y="7305708"/>
            <a:ext cx="3150870" cy="23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"/>
              </a:lnSpc>
              <a:spcBef>
                <a:spcPct val="0"/>
              </a:spcBef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Behavioral Signals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01400" y="8191523"/>
            <a:ext cx="3922879" cy="9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Recruiter response rate</a:t>
            </a:r>
          </a:p>
          <a:p>
            <a:pPr algn="l" marL="0" indent="0" lvl="0">
              <a:lnSpc>
                <a:spcPts val="1801"/>
              </a:lnSpc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Candidate activity level</a:t>
            </a:r>
          </a:p>
          <a:p>
            <a:pPr algn="l" marL="0" indent="0" lvl="0">
              <a:lnSpc>
                <a:spcPts val="1801"/>
              </a:lnSpc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GitHub activity</a:t>
            </a:r>
          </a:p>
          <a:p>
            <a:pPr algn="l" marL="0" indent="0" lvl="0">
              <a:lnSpc>
                <a:spcPts val="1801"/>
              </a:lnSpc>
            </a:pPr>
            <a:r>
              <a:rPr lang="en-US" sz="1286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Location preference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8447" y="6442956"/>
            <a:ext cx="2185553" cy="91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1"/>
              </a:lnSpc>
              <a:spcBef>
                <a:spcPct val="0"/>
              </a:spcBef>
            </a:pPr>
            <a:r>
              <a:rPr lang="en-US" b="true" sz="1286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SKILL MATCH · JOB TITLE · EXPERIENCE · EDUCATION · SEMANTIC AI · HONEYPOT DETECTION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1695432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0"/>
                </a:moveTo>
                <a:lnTo>
                  <a:pt x="0" y="0"/>
                </a:lnTo>
                <a:lnTo>
                  <a:pt x="0" y="236776"/>
                </a:lnTo>
                <a:lnTo>
                  <a:pt x="304980" y="236776"/>
                </a:lnTo>
                <a:lnTo>
                  <a:pt x="3049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true" rot="0">
            <a:off x="102870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0" y="236776"/>
                </a:moveTo>
                <a:lnTo>
                  <a:pt x="304980" y="236776"/>
                </a:lnTo>
                <a:lnTo>
                  <a:pt x="304980" y="0"/>
                </a:lnTo>
                <a:lnTo>
                  <a:pt x="0" y="0"/>
                </a:lnTo>
                <a:lnTo>
                  <a:pt x="0" y="2367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87050" y="5751801"/>
            <a:ext cx="5292077" cy="3506499"/>
            <a:chOff x="0" y="0"/>
            <a:chExt cx="1393798" cy="9235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798" cy="923522"/>
            </a:xfrm>
            <a:custGeom>
              <a:avLst/>
              <a:gdLst/>
              <a:ahLst/>
              <a:cxnLst/>
              <a:rect r="r" b="b" t="t" l="l"/>
              <a:pathLst>
                <a:path h="923522" w="1393798">
                  <a:moveTo>
                    <a:pt x="36573" y="0"/>
                  </a:moveTo>
                  <a:lnTo>
                    <a:pt x="1357225" y="0"/>
                  </a:lnTo>
                  <a:cubicBezTo>
                    <a:pt x="1366925" y="0"/>
                    <a:pt x="1376227" y="3853"/>
                    <a:pt x="1383086" y="10712"/>
                  </a:cubicBezTo>
                  <a:cubicBezTo>
                    <a:pt x="1389945" y="17571"/>
                    <a:pt x="1393798" y="26873"/>
                    <a:pt x="1393798" y="36573"/>
                  </a:cubicBezTo>
                  <a:lnTo>
                    <a:pt x="1393798" y="886949"/>
                  </a:lnTo>
                  <a:cubicBezTo>
                    <a:pt x="1393798" y="896649"/>
                    <a:pt x="1389945" y="905952"/>
                    <a:pt x="1383086" y="912810"/>
                  </a:cubicBezTo>
                  <a:cubicBezTo>
                    <a:pt x="1376227" y="919669"/>
                    <a:pt x="1366925" y="923522"/>
                    <a:pt x="1357225" y="923522"/>
                  </a:cubicBezTo>
                  <a:lnTo>
                    <a:pt x="36573" y="923522"/>
                  </a:lnTo>
                  <a:cubicBezTo>
                    <a:pt x="16374" y="923522"/>
                    <a:pt x="0" y="907148"/>
                    <a:pt x="0" y="886949"/>
                  </a:cubicBezTo>
                  <a:lnTo>
                    <a:pt x="0" y="36573"/>
                  </a:lnTo>
                  <a:cubicBezTo>
                    <a:pt x="0" y="26873"/>
                    <a:pt x="3853" y="17571"/>
                    <a:pt x="10712" y="10712"/>
                  </a:cubicBezTo>
                  <a:cubicBezTo>
                    <a:pt x="17571" y="3853"/>
                    <a:pt x="26873" y="0"/>
                    <a:pt x="36573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93798" cy="961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354360"/>
            <a:ext cx="3391478" cy="4899794"/>
            <a:chOff x="0" y="0"/>
            <a:chExt cx="525429" cy="7591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5429" cy="759106"/>
            </a:xfrm>
            <a:custGeom>
              <a:avLst/>
              <a:gdLst/>
              <a:ahLst/>
              <a:cxnLst/>
              <a:rect r="r" b="b" t="t" l="l"/>
              <a:pathLst>
                <a:path h="759106" w="525429">
                  <a:moveTo>
                    <a:pt x="34241" y="0"/>
                  </a:moveTo>
                  <a:lnTo>
                    <a:pt x="491187" y="0"/>
                  </a:lnTo>
                  <a:cubicBezTo>
                    <a:pt x="500269" y="0"/>
                    <a:pt x="508978" y="3608"/>
                    <a:pt x="515400" y="10029"/>
                  </a:cubicBezTo>
                  <a:cubicBezTo>
                    <a:pt x="521821" y="16451"/>
                    <a:pt x="525429" y="25160"/>
                    <a:pt x="525429" y="34241"/>
                  </a:cubicBezTo>
                  <a:lnTo>
                    <a:pt x="525429" y="724865"/>
                  </a:lnTo>
                  <a:cubicBezTo>
                    <a:pt x="525429" y="743776"/>
                    <a:pt x="510098" y="759106"/>
                    <a:pt x="491187" y="759106"/>
                  </a:cubicBezTo>
                  <a:lnTo>
                    <a:pt x="34241" y="759106"/>
                  </a:lnTo>
                  <a:cubicBezTo>
                    <a:pt x="25160" y="759106"/>
                    <a:pt x="16451" y="755499"/>
                    <a:pt x="10029" y="749077"/>
                  </a:cubicBezTo>
                  <a:cubicBezTo>
                    <a:pt x="3608" y="742656"/>
                    <a:pt x="0" y="733946"/>
                    <a:pt x="0" y="724865"/>
                  </a:cubicBezTo>
                  <a:lnTo>
                    <a:pt x="0" y="34241"/>
                  </a:lnTo>
                  <a:cubicBezTo>
                    <a:pt x="0" y="15330"/>
                    <a:pt x="15330" y="0"/>
                    <a:pt x="3424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366" r="0" b="-13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10479083" y="1236667"/>
            <a:ext cx="1444635" cy="1028700"/>
            <a:chOff x="0" y="0"/>
            <a:chExt cx="380480" cy="270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0480" cy="270933"/>
            </a:xfrm>
            <a:custGeom>
              <a:avLst/>
              <a:gdLst/>
              <a:ahLst/>
              <a:cxnLst/>
              <a:rect r="r" b="b" t="t" l="l"/>
              <a:pathLst>
                <a:path h="270933" w="380480">
                  <a:moveTo>
                    <a:pt x="0" y="0"/>
                  </a:moveTo>
                  <a:lnTo>
                    <a:pt x="380480" y="0"/>
                  </a:lnTo>
                  <a:lnTo>
                    <a:pt x="380480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0480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963228" y="7463510"/>
            <a:ext cx="1028700" cy="514350"/>
            <a:chOff x="0" y="0"/>
            <a:chExt cx="270933" cy="135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135467"/>
            </a:xfrm>
            <a:custGeom>
              <a:avLst/>
              <a:gdLst/>
              <a:ahLst/>
              <a:cxnLst/>
              <a:rect r="r" b="b" t="t" l="l"/>
              <a:pathLst>
                <a:path h="13546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77578" y="7463510"/>
            <a:ext cx="2291565" cy="514350"/>
            <a:chOff x="0" y="0"/>
            <a:chExt cx="603540" cy="135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40" cy="135467"/>
            </a:xfrm>
            <a:custGeom>
              <a:avLst/>
              <a:gdLst/>
              <a:ahLst/>
              <a:cxnLst/>
              <a:rect r="r" b="b" t="t" l="l"/>
              <a:pathLst>
                <a:path h="135467" w="603540">
                  <a:moveTo>
                    <a:pt x="67733" y="0"/>
                  </a:moveTo>
                  <a:lnTo>
                    <a:pt x="535806" y="0"/>
                  </a:lnTo>
                  <a:cubicBezTo>
                    <a:pt x="573215" y="0"/>
                    <a:pt x="603540" y="30325"/>
                    <a:pt x="603540" y="67733"/>
                  </a:cubicBezTo>
                  <a:lnTo>
                    <a:pt x="603540" y="67733"/>
                  </a:lnTo>
                  <a:cubicBezTo>
                    <a:pt x="603540" y="85697"/>
                    <a:pt x="596404" y="102926"/>
                    <a:pt x="583701" y="115628"/>
                  </a:cubicBezTo>
                  <a:cubicBezTo>
                    <a:pt x="570999" y="128331"/>
                    <a:pt x="553770" y="135467"/>
                    <a:pt x="535806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3540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0">
            <a:off x="16954320" y="9021524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0"/>
                </a:moveTo>
                <a:lnTo>
                  <a:pt x="0" y="0"/>
                </a:lnTo>
                <a:lnTo>
                  <a:pt x="0" y="236776"/>
                </a:lnTo>
                <a:lnTo>
                  <a:pt x="304980" y="236776"/>
                </a:lnTo>
                <a:lnTo>
                  <a:pt x="3049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46925" y="545275"/>
            <a:ext cx="4930672" cy="4853759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028700" y="886192"/>
            <a:ext cx="9332756" cy="293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54"/>
              </a:lnSpc>
            </a:pPr>
            <a:r>
              <a:rPr lang="en-US" sz="11354" spc="-79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Beyond</a:t>
            </a:r>
          </a:p>
          <a:p>
            <a:pPr algn="l" marL="0" indent="0" lvl="0">
              <a:lnSpc>
                <a:spcPts val="11354"/>
              </a:lnSpc>
            </a:pPr>
            <a:r>
              <a:rPr lang="en-US" sz="11354" spc="-79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Keywords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63228" y="4306735"/>
            <a:ext cx="4285351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7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Semantic AI Layer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63228" y="5713701"/>
            <a:ext cx="3180772" cy="9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3"/>
              </a:lnSpc>
              <a:spcBef>
                <a:spcPct val="0"/>
              </a:spcBef>
            </a:pPr>
            <a:r>
              <a:rPr lang="en-US" sz="1302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Model: Sentence Transformers (all-MiniLM-L6-v2) — understanding candidate meaning, not just keywords.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47926" y="7568295"/>
            <a:ext cx="3150870" cy="23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23"/>
              </a:lnSpc>
              <a:spcBef>
                <a:spcPct val="0"/>
              </a:spcBef>
            </a:pPr>
            <a:r>
              <a:rPr lang="en-US" sz="1302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Advantages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63228" y="8454110"/>
            <a:ext cx="4285351" cy="69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3"/>
              </a:lnSpc>
            </a:pPr>
            <a:r>
              <a:rPr lang="en-US" sz="1302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Understand candidate meaning, not keywords</a:t>
            </a:r>
          </a:p>
          <a:p>
            <a:pPr algn="l" marL="0" indent="0" lvl="0">
              <a:lnSpc>
                <a:spcPts val="1823"/>
              </a:lnSpc>
            </a:pPr>
            <a:r>
              <a:rPr lang="en-US" sz="1302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Improve candidate-job matching accuracy</a:t>
            </a:r>
          </a:p>
          <a:p>
            <a:pPr algn="l" marL="0" indent="0" lvl="0">
              <a:lnSpc>
                <a:spcPts val="1823"/>
              </a:lnSpc>
            </a:pPr>
            <a:r>
              <a:rPr lang="en-US" sz="1302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Capture hidden relevance &amp; context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1302" y="7009783"/>
            <a:ext cx="1313780" cy="23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302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VS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94376" y="7009783"/>
            <a:ext cx="3270499" cy="114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302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KEYWORD MATCHING: RIGID, MISSES SYNONYMS, CONTEXT-BLIND</a:t>
            </a:r>
          </a:p>
          <a:p>
            <a:pPr algn="l" marL="0" indent="0" lvl="0">
              <a:lnSpc>
                <a:spcPts val="1823"/>
              </a:lnSpc>
              <a:spcBef>
                <a:spcPct val="0"/>
              </a:spcBef>
            </a:pPr>
            <a:r>
              <a:rPr lang="en-US" b="true" sz="1302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SEMANTIC UNDERSTANDING: CONCEPT CLUSTERS, DEEP CONTEXTUAL MATCH, HIGHER RECALL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33301"/>
            <a:ext cx="9144000" cy="259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24"/>
              </a:lnSpc>
            </a:pPr>
            <a:r>
              <a:rPr lang="en-US" sz="10024" spc="-701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Performance Results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2397687" y="3981613"/>
            <a:ext cx="4217670" cy="1028700"/>
            <a:chOff x="0" y="0"/>
            <a:chExt cx="1110827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0827" cy="270933"/>
            </a:xfrm>
            <a:custGeom>
              <a:avLst/>
              <a:gdLst/>
              <a:ahLst/>
              <a:cxnLst/>
              <a:rect r="r" b="b" t="t" l="l"/>
              <a:pathLst>
                <a:path h="270933" w="1110827">
                  <a:moveTo>
                    <a:pt x="0" y="0"/>
                  </a:moveTo>
                  <a:lnTo>
                    <a:pt x="1110827" y="0"/>
                  </a:lnTo>
                  <a:lnTo>
                    <a:pt x="1110827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10827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72700" y="2762464"/>
            <a:ext cx="7086600" cy="4971874"/>
            <a:chOff x="0" y="0"/>
            <a:chExt cx="1866430" cy="13094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6430" cy="1309465"/>
            </a:xfrm>
            <a:custGeom>
              <a:avLst/>
              <a:gdLst/>
              <a:ahLst/>
              <a:cxnLst/>
              <a:rect r="r" b="b" t="t" l="l"/>
              <a:pathLst>
                <a:path h="1309465" w="1866430">
                  <a:moveTo>
                    <a:pt x="27312" y="0"/>
                  </a:moveTo>
                  <a:lnTo>
                    <a:pt x="1839118" y="0"/>
                  </a:lnTo>
                  <a:cubicBezTo>
                    <a:pt x="1846361" y="0"/>
                    <a:pt x="1853308" y="2877"/>
                    <a:pt x="1858430" y="7999"/>
                  </a:cubicBezTo>
                  <a:cubicBezTo>
                    <a:pt x="1863552" y="13121"/>
                    <a:pt x="1866430" y="20068"/>
                    <a:pt x="1866430" y="27312"/>
                  </a:cubicBezTo>
                  <a:lnTo>
                    <a:pt x="1866430" y="1282153"/>
                  </a:lnTo>
                  <a:cubicBezTo>
                    <a:pt x="1866430" y="1289397"/>
                    <a:pt x="1863552" y="1296343"/>
                    <a:pt x="1858430" y="1301465"/>
                  </a:cubicBezTo>
                  <a:cubicBezTo>
                    <a:pt x="1853308" y="1306587"/>
                    <a:pt x="1846361" y="1309465"/>
                    <a:pt x="1839118" y="1309465"/>
                  </a:cubicBezTo>
                  <a:lnTo>
                    <a:pt x="27312" y="1309465"/>
                  </a:lnTo>
                  <a:cubicBezTo>
                    <a:pt x="20068" y="1309465"/>
                    <a:pt x="13121" y="1306587"/>
                    <a:pt x="7999" y="1301465"/>
                  </a:cubicBezTo>
                  <a:cubicBezTo>
                    <a:pt x="2877" y="1296343"/>
                    <a:pt x="0" y="1289397"/>
                    <a:pt x="0" y="1282153"/>
                  </a:cubicBezTo>
                  <a:lnTo>
                    <a:pt x="0" y="27312"/>
                  </a:lnTo>
                  <a:cubicBezTo>
                    <a:pt x="0" y="20068"/>
                    <a:pt x="2877" y="13121"/>
                    <a:pt x="7999" y="7999"/>
                  </a:cubicBezTo>
                  <a:cubicBezTo>
                    <a:pt x="13121" y="2877"/>
                    <a:pt x="20068" y="0"/>
                    <a:pt x="27312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66430" cy="1347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12930" y="4353079"/>
            <a:ext cx="1028700" cy="514350"/>
            <a:chOff x="0" y="0"/>
            <a:chExt cx="270933" cy="135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135467"/>
            </a:xfrm>
            <a:custGeom>
              <a:avLst/>
              <a:gdLst/>
              <a:ahLst/>
              <a:cxnLst/>
              <a:rect r="r" b="b" t="t" l="l"/>
              <a:pathLst>
                <a:path h="13546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27280" y="4353079"/>
            <a:ext cx="2891790" cy="514350"/>
            <a:chOff x="0" y="0"/>
            <a:chExt cx="761624" cy="1354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1624" cy="135467"/>
            </a:xfrm>
            <a:custGeom>
              <a:avLst/>
              <a:gdLst/>
              <a:ahLst/>
              <a:cxnLst/>
              <a:rect r="r" b="b" t="t" l="l"/>
              <a:pathLst>
                <a:path h="135467" w="761624">
                  <a:moveTo>
                    <a:pt x="67733" y="0"/>
                  </a:moveTo>
                  <a:lnTo>
                    <a:pt x="693890" y="0"/>
                  </a:lnTo>
                  <a:cubicBezTo>
                    <a:pt x="711854" y="0"/>
                    <a:pt x="729083" y="7136"/>
                    <a:pt x="741785" y="19839"/>
                  </a:cubicBezTo>
                  <a:cubicBezTo>
                    <a:pt x="754488" y="32541"/>
                    <a:pt x="761624" y="49769"/>
                    <a:pt x="761624" y="67733"/>
                  </a:cubicBezTo>
                  <a:lnTo>
                    <a:pt x="761624" y="67733"/>
                  </a:lnTo>
                  <a:cubicBezTo>
                    <a:pt x="761624" y="85697"/>
                    <a:pt x="754488" y="102926"/>
                    <a:pt x="741785" y="115628"/>
                  </a:cubicBezTo>
                  <a:cubicBezTo>
                    <a:pt x="729083" y="128331"/>
                    <a:pt x="711854" y="135467"/>
                    <a:pt x="693890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1624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46819" y="5381779"/>
            <a:ext cx="1960286" cy="1028700"/>
            <a:chOff x="0" y="0"/>
            <a:chExt cx="516289" cy="2709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6289" cy="270933"/>
            </a:xfrm>
            <a:custGeom>
              <a:avLst/>
              <a:gdLst/>
              <a:ahLst/>
              <a:cxnLst/>
              <a:rect r="r" b="b" t="t" l="l"/>
              <a:pathLst>
                <a:path h="270933" w="516289">
                  <a:moveTo>
                    <a:pt x="0" y="0"/>
                  </a:moveTo>
                  <a:lnTo>
                    <a:pt x="516289" y="0"/>
                  </a:lnTo>
                  <a:lnTo>
                    <a:pt x="516289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62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787087"/>
            <a:ext cx="5986391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7" spc="-10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100K Candidates Processed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734463"/>
            <a:ext cx="8115300" cy="4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0"/>
              </a:lnSpc>
              <a:spcBef>
                <a:spcPct val="0"/>
              </a:spcBef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Redrob AI processed 100,000 candidate profiles end-to-end, generating a ranked shortlist with full explainability — running entirely on CPU hardware.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76760" y="4467388"/>
            <a:ext cx="3592830" cy="21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0"/>
              </a:lnSpc>
              <a:spcBef>
                <a:spcPct val="0"/>
              </a:spcBef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Key Metrics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2930" y="5353204"/>
            <a:ext cx="3406140" cy="65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0"/>
              </a:lnSpc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Runtime: ~113 seconds</a:t>
            </a:r>
          </a:p>
          <a:p>
            <a:pPr algn="l" marL="0" indent="0" lvl="0">
              <a:lnSpc>
                <a:spcPts val="1790"/>
              </a:lnSpc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Top 100 candidates ranked</a:t>
            </a:r>
          </a:p>
          <a:p>
            <a:pPr algn="l" marL="0" indent="0" lvl="0">
              <a:lnSpc>
                <a:spcPts val="1790"/>
              </a:lnSpc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CPU compatible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2700" y="8734463"/>
            <a:ext cx="2004060" cy="4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0"/>
              </a:lnSpc>
              <a:spcBef>
                <a:spcPct val="0"/>
              </a:spcBef>
            </a:pPr>
            <a:r>
              <a:rPr lang="en-US" b="true" sz="1279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~113 SEC TOTAL RUNTIME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34678" y="8734463"/>
            <a:ext cx="1671047" cy="4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0"/>
              </a:lnSpc>
              <a:spcBef>
                <a:spcPct val="0"/>
              </a:spcBef>
            </a:pPr>
            <a:r>
              <a:rPr lang="en-US" sz="1279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End-to-end pipeline benchmark</a:t>
            </a:r>
          </a:p>
        </p:txBody>
      </p:sp>
      <p:sp>
        <p:nvSpPr>
          <p:cNvPr name="Freeform 24" id="24"/>
          <p:cNvSpPr/>
          <p:nvPr/>
        </p:nvSpPr>
        <p:spPr>
          <a:xfrm flipH="false" flipV="true" rot="0">
            <a:off x="102870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0" y="236776"/>
                </a:moveTo>
                <a:lnTo>
                  <a:pt x="304980" y="236776"/>
                </a:lnTo>
                <a:lnTo>
                  <a:pt x="304980" y="0"/>
                </a:lnTo>
                <a:lnTo>
                  <a:pt x="0" y="0"/>
                </a:lnTo>
                <a:lnTo>
                  <a:pt x="0" y="2367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002">
                <a:alpha val="100000"/>
              </a:srgbClr>
            </a:gs>
            <a:gs pos="100000">
              <a:srgbClr val="1F1E2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72700" y="857391"/>
            <a:ext cx="7086600" cy="354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33"/>
              </a:lnSpc>
            </a:pPr>
            <a:r>
              <a:rPr lang="en-US" sz="13633" spc="-95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Project</a:t>
            </a:r>
          </a:p>
          <a:p>
            <a:pPr algn="l" marL="0" indent="0" lvl="0">
              <a:lnSpc>
                <a:spcPts val="13633"/>
              </a:lnSpc>
            </a:pPr>
            <a:r>
              <a:rPr lang="en-US" sz="13633" spc="-954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747474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Impact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51207" y="8316548"/>
            <a:ext cx="2162788" cy="964406"/>
            <a:chOff x="0" y="0"/>
            <a:chExt cx="569623" cy="25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9623" cy="254000"/>
            </a:xfrm>
            <a:custGeom>
              <a:avLst/>
              <a:gdLst/>
              <a:ahLst/>
              <a:cxnLst/>
              <a:rect r="r" b="b" t="t" l="l"/>
              <a:pathLst>
                <a:path h="254000" w="569623">
                  <a:moveTo>
                    <a:pt x="0" y="0"/>
                  </a:moveTo>
                  <a:lnTo>
                    <a:pt x="569623" y="0"/>
                  </a:lnTo>
                  <a:lnTo>
                    <a:pt x="569623" y="254000"/>
                  </a:lnTo>
                  <a:lnTo>
                    <a:pt x="0" y="254000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69623" cy="29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3176913" y="8358188"/>
            <a:ext cx="1674530" cy="900112"/>
            <a:chOff x="0" y="0"/>
            <a:chExt cx="441028" cy="237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1028" cy="237067"/>
            </a:xfrm>
            <a:custGeom>
              <a:avLst/>
              <a:gdLst/>
              <a:ahLst/>
              <a:cxnLst/>
              <a:rect r="r" b="b" t="t" l="l"/>
              <a:pathLst>
                <a:path h="237067" w="441028">
                  <a:moveTo>
                    <a:pt x="0" y="0"/>
                  </a:moveTo>
                  <a:lnTo>
                    <a:pt x="441028" y="0"/>
                  </a:lnTo>
                  <a:lnTo>
                    <a:pt x="441028" y="237067"/>
                  </a:lnTo>
                  <a:lnTo>
                    <a:pt x="0" y="237067"/>
                  </a:lnTo>
                  <a:close/>
                </a:path>
              </a:pathLst>
            </a:custGeom>
            <a:gradFill rotWithShape="true">
              <a:gsLst>
                <a:gs pos="0">
                  <a:srgbClr val="A678FF">
                    <a:alpha val="0"/>
                  </a:srgbClr>
                </a:gs>
                <a:gs pos="100000">
                  <a:srgbClr val="A678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1028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56820" y="8358188"/>
            <a:ext cx="10144125" cy="900112"/>
            <a:chOff x="0" y="0"/>
            <a:chExt cx="2671704" cy="2370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1704" cy="237067"/>
            </a:xfrm>
            <a:custGeom>
              <a:avLst/>
              <a:gdLst/>
              <a:ahLst/>
              <a:cxnLst/>
              <a:rect r="r" b="b" t="t" l="l"/>
              <a:pathLst>
                <a:path h="237067" w="2671704">
                  <a:moveTo>
                    <a:pt x="76319" y="0"/>
                  </a:moveTo>
                  <a:lnTo>
                    <a:pt x="2595385" y="0"/>
                  </a:lnTo>
                  <a:cubicBezTo>
                    <a:pt x="2615626" y="0"/>
                    <a:pt x="2635038" y="8041"/>
                    <a:pt x="2649350" y="22353"/>
                  </a:cubicBezTo>
                  <a:cubicBezTo>
                    <a:pt x="2663663" y="36666"/>
                    <a:pt x="2671704" y="56078"/>
                    <a:pt x="2671704" y="76319"/>
                  </a:cubicBezTo>
                  <a:lnTo>
                    <a:pt x="2671704" y="160747"/>
                  </a:lnTo>
                  <a:cubicBezTo>
                    <a:pt x="2671704" y="202897"/>
                    <a:pt x="2637535" y="237067"/>
                    <a:pt x="2595385" y="237067"/>
                  </a:cubicBezTo>
                  <a:lnTo>
                    <a:pt x="76319" y="237067"/>
                  </a:lnTo>
                  <a:cubicBezTo>
                    <a:pt x="56078" y="237067"/>
                    <a:pt x="36666" y="229026"/>
                    <a:pt x="22353" y="214713"/>
                  </a:cubicBezTo>
                  <a:cubicBezTo>
                    <a:pt x="8041" y="200401"/>
                    <a:pt x="0" y="180989"/>
                    <a:pt x="0" y="160747"/>
                  </a:cubicBezTo>
                  <a:lnTo>
                    <a:pt x="0" y="76319"/>
                  </a:lnTo>
                  <a:cubicBezTo>
                    <a:pt x="0" y="56078"/>
                    <a:pt x="8041" y="36666"/>
                    <a:pt x="22353" y="22353"/>
                  </a:cubicBezTo>
                  <a:cubicBezTo>
                    <a:pt x="36666" y="8041"/>
                    <a:pt x="56078" y="0"/>
                    <a:pt x="76319" y="0"/>
                  </a:cubicBezTo>
                  <a:close/>
                </a:path>
              </a:pathLst>
            </a:custGeom>
            <a:solidFill>
              <a:srgbClr val="00000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71704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13995" y="8551069"/>
            <a:ext cx="3275052" cy="514350"/>
            <a:chOff x="0" y="0"/>
            <a:chExt cx="862565" cy="1354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2565" cy="135467"/>
            </a:xfrm>
            <a:custGeom>
              <a:avLst/>
              <a:gdLst/>
              <a:ahLst/>
              <a:cxnLst/>
              <a:rect r="r" b="b" t="t" l="l"/>
              <a:pathLst>
                <a:path h="135467" w="862565">
                  <a:moveTo>
                    <a:pt x="67733" y="0"/>
                  </a:moveTo>
                  <a:lnTo>
                    <a:pt x="794832" y="0"/>
                  </a:lnTo>
                  <a:cubicBezTo>
                    <a:pt x="812796" y="0"/>
                    <a:pt x="830024" y="7136"/>
                    <a:pt x="842727" y="19839"/>
                  </a:cubicBezTo>
                  <a:cubicBezTo>
                    <a:pt x="855429" y="32541"/>
                    <a:pt x="862565" y="49769"/>
                    <a:pt x="862565" y="67733"/>
                  </a:cubicBezTo>
                  <a:lnTo>
                    <a:pt x="862565" y="67733"/>
                  </a:lnTo>
                  <a:cubicBezTo>
                    <a:pt x="862565" y="85697"/>
                    <a:pt x="855429" y="102926"/>
                    <a:pt x="842727" y="115628"/>
                  </a:cubicBezTo>
                  <a:cubicBezTo>
                    <a:pt x="830024" y="128331"/>
                    <a:pt x="812796" y="135467"/>
                    <a:pt x="794832" y="135467"/>
                  </a:cubicBezTo>
                  <a:lnTo>
                    <a:pt x="67733" y="135467"/>
                  </a:lnTo>
                  <a:cubicBezTo>
                    <a:pt x="49769" y="135467"/>
                    <a:pt x="32541" y="128331"/>
                    <a:pt x="19839" y="115628"/>
                  </a:cubicBezTo>
                  <a:cubicBezTo>
                    <a:pt x="7136" y="102926"/>
                    <a:pt x="0" y="85697"/>
                    <a:pt x="0" y="67733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F1F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2565" cy="173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979328" y="8693927"/>
            <a:ext cx="228633" cy="228633"/>
          </a:xfrm>
          <a:custGeom>
            <a:avLst/>
            <a:gdLst/>
            <a:ahLst/>
            <a:cxnLst/>
            <a:rect r="r" b="b" t="t" l="l"/>
            <a:pathLst>
              <a:path h="228633" w="228633">
                <a:moveTo>
                  <a:pt x="0" y="0"/>
                </a:moveTo>
                <a:lnTo>
                  <a:pt x="228632" y="0"/>
                </a:lnTo>
                <a:lnTo>
                  <a:pt x="228632" y="228633"/>
                </a:lnTo>
                <a:lnTo>
                  <a:pt x="0" y="228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02870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0" y="236776"/>
                </a:moveTo>
                <a:lnTo>
                  <a:pt x="304980" y="236776"/>
                </a:lnTo>
                <a:lnTo>
                  <a:pt x="304980" y="0"/>
                </a:lnTo>
                <a:lnTo>
                  <a:pt x="0" y="0"/>
                </a:lnTo>
                <a:lnTo>
                  <a:pt x="0" y="2367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6954320" y="1028700"/>
            <a:ext cx="304980" cy="236776"/>
          </a:xfrm>
          <a:custGeom>
            <a:avLst/>
            <a:gdLst/>
            <a:ahLst/>
            <a:cxnLst/>
            <a:rect r="r" b="b" t="t" l="l"/>
            <a:pathLst>
              <a:path h="236776" w="304980">
                <a:moveTo>
                  <a:pt x="304980" y="236776"/>
                </a:moveTo>
                <a:lnTo>
                  <a:pt x="0" y="236776"/>
                </a:lnTo>
                <a:lnTo>
                  <a:pt x="0" y="0"/>
                </a:lnTo>
                <a:lnTo>
                  <a:pt x="304980" y="0"/>
                </a:lnTo>
                <a:lnTo>
                  <a:pt x="304980" y="2367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2131" y="2340628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172700" y="4652840"/>
            <a:ext cx="5986391" cy="102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1"/>
              </a:lnSpc>
              <a:spcBef>
                <a:spcPct val="0"/>
              </a:spcBef>
            </a:pPr>
            <a:r>
              <a:rPr lang="en-US" sz="2950" spc="-103">
                <a:gradFill>
                  <a:gsLst>
                    <a:gs pos="0">
                      <a:srgbClr val="FDFDFD">
                        <a:alpha val="100000"/>
                      </a:srgbClr>
                    </a:gs>
                    <a:gs pos="100000">
                      <a:srgbClr val="A678FF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Making candidate selection smarter, faster, and scalable.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2700" y="6167315"/>
            <a:ext cx="7086600" cy="1266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✦ End-to-end working system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✦ Scalable to 100,000+ profiles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✦ Explainable AI rankings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✦ Detects suspicious profiles</a:t>
            </a:r>
          </a:p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✦ Works fully offline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3210" y="8674877"/>
            <a:ext cx="3277761" cy="2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www.redrob.ai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94997" y="8674877"/>
            <a:ext cx="2938258" cy="2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  <a:spcBef>
                <a:spcPct val="0"/>
              </a:spcBef>
            </a:pPr>
            <a:r>
              <a:rPr lang="en-US" sz="1498" strike="noStrike" u="none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Team CHAOS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DAHNnBc49B8</dc:identifier>
  <dcterms:modified xsi:type="dcterms:W3CDTF">2011-08-01T06:04:30Z</dcterms:modified>
  <cp:revision>1</cp:revision>
  <dc:title>Redrob AI Candidate Ranking System</dc:title>
</cp:coreProperties>
</file>